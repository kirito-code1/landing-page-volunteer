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Revenue Projection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($)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М6</c:v>
                  </c:pt>
                  <c:pt idx="1">
                    <c:v>М12</c:v>
                  </c:pt>
                  <c:pt idx="2">
                    <c:v>Год 2</c:v>
                  </c:pt>
                  <c:pt idx="3">
                    <c:v>Год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2000</c:v>
                </c:pt>
                <c:pt idx="1">
                  <c:v>15000</c:v>
                </c:pt>
                <c:pt idx="2">
                  <c:v>80000</c:v>
                </c:pt>
                <c:pt idx="3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Использование средств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Распределение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bubble3D val="0"/>
            <c:spPr>
              <a:solidFill>
                <a:srgbClr val="6EE7B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Маркетинг и рост</c:v>
                </c:pt>
                <c:pt idx="1">
                  <c:v>Разработка</c:v>
                </c:pt>
                <c:pt idx="2">
                  <c:v>Команда</c:v>
                </c:pt>
                <c:pt idx="3">
                  <c:v>Операционные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064E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3840480"/>
            <a:ext cx="2286000" cy="22860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502920"/>
            <a:ext cx="1828800" cy="1828800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5059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VoloHero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Платформа, которая соединяет сердца с делами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2286000" y="3986784"/>
            <a:ext cx="4572000" cy="420624"/>
          </a:xfrm>
          <a:prstGeom prst="roundRect">
            <a:avLst>
              <a:gd name="adj" fmla="val 32609"/>
            </a:avLst>
          </a:prstGeom>
          <a:solidFill>
            <a:srgbClr val="0F3B2D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0" y="398678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"Сайт для тех, кто хочет улучшить мир"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2025  ·  Seed Round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Мир хочет меняться. Но где начать?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барьера, которые держат миллионы в стороне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161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8912" y="1847088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хотят волонтёрить,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не знают как начать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2161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40ч+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873752" y="1847088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организаторы тратят каждый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на поиск волонтёров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2062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64008" cy="1600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992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38912" y="3630168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прозрачности: куда идут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пожертвования?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2062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80360"/>
            <a:ext cx="64008" cy="1600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9992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Хаос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873752" y="3630168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Instagram 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сарафанное радио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Один клик — и ты герой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хочет быть героем. Мы даём им эту возможность.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234440"/>
            <a:ext cx="822960" cy="8229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Умный поиск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84048" y="26974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срочности, локации и категории — найди событие за 30 секунд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50592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00584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99232" y="1234440"/>
            <a:ext cx="822960" cy="8229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3716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платформа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560320" y="26974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Волонтёры, организаторы и доноры — все в одной экосистеме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626864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100584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75504" y="1234440"/>
            <a:ext cx="822960" cy="8229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3716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18304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736592" y="26974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пожертвование с отчётом. Никакого чёрного ящика.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803136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03136" y="100584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51776" y="1234440"/>
            <a:ext cx="822960" cy="8229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37160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94576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Premium-инструменты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912864" y="26974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impact, приоритет в ленте, CSV-экспорт для профи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это работает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роли. Одна платформа. Измеримый результат.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6517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65176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🙋  Волонтёр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5488" y="167335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73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Зарегистрируйся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" y="2020824"/>
            <a:ext cx="0" cy="402336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5488" y="244144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4597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событие по фильтрам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" y="2788920"/>
            <a:ext cx="0" cy="402336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488" y="320954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27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Откликнись 1 кнопкой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" y="3557016"/>
            <a:ext cx="0" cy="402336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75488" y="397764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9959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 Impact-badge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154680" y="960120"/>
            <a:ext cx="26517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960120"/>
            <a:ext cx="265176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960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Организатор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3355848" y="167335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1673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94760" y="16916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 событие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529584" y="2020824"/>
            <a:ext cx="0" cy="402336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355848" y="244144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94760" y="24597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Управляй откликами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529584" y="2788920"/>
            <a:ext cx="0" cy="402336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355848" y="320954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94760" y="3227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Проведи мероприятие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529584" y="3557016"/>
            <a:ext cx="0" cy="402336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355848" y="39776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94760" y="39959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Опубликуй отчёт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035040" y="960120"/>
            <a:ext cx="26517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960120"/>
            <a:ext cx="265176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960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💝  Донор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236208" y="167335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1673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75120" y="16916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проект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09944" y="2020824"/>
            <a:ext cx="0" cy="402336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236208" y="244144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675120" y="24597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Пожертвуй любую сумму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409944" y="2788920"/>
            <a:ext cx="0" cy="402336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236208" y="3209544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675120" y="3227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 автоотчёт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409944" y="3557016"/>
            <a:ext cx="0" cy="402336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6236208" y="397764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6208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675120" y="39959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Увидь свой вклад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Рынок, который растёт вместе с обществом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специализированная платформа волонтёрства в Центральной Азии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3840480"/>
          </a:xfrm>
          <a:prstGeom prst="ellipse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3291840" cy="2834640"/>
          </a:xfrm>
          <a:prstGeom prst="ellipse">
            <a:avLst/>
          </a:prstGeom>
          <a:solidFill>
            <a:srgbClr val="B7F5D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103120"/>
            <a:ext cx="2194560" cy="178308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— $45B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рынок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— $320M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847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СНГ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65960" y="2148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74520" y="2423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024128"/>
            <a:ext cx="19659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24128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0700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80060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Ежегодный рост CAGR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1024128"/>
            <a:ext cx="19659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024128"/>
            <a:ext cx="19659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20700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36M+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94944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18–35 лет в СНГ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035808"/>
            <a:ext cx="19659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35808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1868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4800600" y="3931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в Узбекистане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0" y="3035808"/>
            <a:ext cx="19659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3035808"/>
            <a:ext cx="19659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21868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949440" y="3931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экспансии в СНГ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Делаем добро с устойчивой экономикой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 может быть устойчивым бизнесом.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6517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171907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профиля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2212848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2212848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события / месяц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2706624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" y="2706624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заявки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" y="3200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320040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Impact-аналитика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" y="3694176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3694176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CSV-экспорт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" y="4187952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418795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в ленте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063240" y="804672"/>
            <a:ext cx="2834640" cy="4251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sx="100000" sy="100000" kx="0" ky="0" algn="bl" rotWithShape="0" blurRad="254000" dist="889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50208" y="566928"/>
            <a:ext cx="1060704" cy="329184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0208" y="566928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ПОПУЛЯРНЫЙ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63240" y="80467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💎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063240" y="13350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UZS / мес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63240" y="16459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(~$4 / месяц)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1993392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Безлимит публикаций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Приоритет в ленте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Impact-аналитика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CSV-экспорт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Корпоративный профиль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Приоритетная поддержка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0760" y="107899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78992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1216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Донаты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54496" y="1645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комиссия. Полная прозрачность.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Планируем: fee 2% в 2027.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80760" y="313639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3136392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32735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B2B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54496" y="3703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Корпоративное волонтёрство.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отчёты. → Q2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Мы уже движемся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запущен. Данные актуальны на дату встречи.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65176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24323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XXX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Зарегистрированных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987552"/>
            <a:ext cx="265176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987552"/>
            <a:ext cx="2651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43000"/>
            <a:ext cx="24323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XX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00400" y="18379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событий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платформе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987552"/>
            <a:ext cx="265176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987552"/>
            <a:ext cx="2651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1143000"/>
            <a:ext cx="24323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XX%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035040" y="18379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месяц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месяцу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265176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16352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71800"/>
            <a:ext cx="24323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XX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65760" y="3666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Прошедших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0" y="2816352"/>
            <a:ext cx="265176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08960" y="2816352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2971800"/>
            <a:ext cx="24323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XX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3200400" y="3666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подписчиков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0" y="2816352"/>
            <a:ext cx="265176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2816352"/>
            <a:ext cx="265176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2971800"/>
            <a:ext cx="24323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 M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035040" y="3666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UZS собрано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донатах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Мы не первые. Но мы — другие.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Измеримые преимущества по каждому критерию.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7556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9968" y="1005840"/>
            <a:ext cx="15544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84448" y="1005840"/>
            <a:ext cx="15544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Соцсети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38928" y="1005840"/>
            <a:ext cx="15544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93408" y="1005840"/>
            <a:ext cx="1627632" cy="475488"/>
          </a:xfrm>
          <a:prstGeom prst="rect">
            <a:avLst/>
          </a:prstGeom>
          <a:solidFill>
            <a:srgbClr val="064E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005840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VoloHero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481328"/>
            <a:ext cx="17556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4813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данных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29968" y="148132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14813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84448" y="148132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14813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38928" y="148132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14813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93408" y="1481328"/>
            <a:ext cx="1627632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148132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984248"/>
            <a:ext cx="175564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98424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поиск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29968" y="198424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75688" y="19842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84448" y="198424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19842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38928" y="198424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19842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93408" y="1984248"/>
            <a:ext cx="1627632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9128" y="198424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2487168"/>
            <a:ext cx="17556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48716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донатов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29968" y="248716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75688" y="24871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84448" y="248716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0168" y="24871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38928" y="248716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84648" y="24871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93408" y="2487168"/>
            <a:ext cx="1627632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39128" y="24871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2990088"/>
            <a:ext cx="175564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99008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29968" y="299008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75688" y="29900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584448" y="299008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30168" y="29900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138928" y="299008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84648" y="29900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93408" y="2990088"/>
            <a:ext cx="1627632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39128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Freemium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74320" y="3493008"/>
            <a:ext cx="17556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49300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Impact-аналитика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029968" y="349300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75688" y="34930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584448" y="349300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30168" y="34930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138928" y="349300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84648" y="34930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693408" y="3493008"/>
            <a:ext cx="1627632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39128" y="349300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Дашборд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74320" y="3995928"/>
            <a:ext cx="175564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9959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Мультиязычность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029968" y="399592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75688" y="39959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584448" y="399592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30168" y="39959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138928" y="3995928"/>
            <a:ext cx="1554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84648" y="39959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693408" y="3995928"/>
            <a:ext cx="1627632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39128" y="399592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RU/UZ/EN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Построено на современном стеке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 с первого дня.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188720"/>
            <a:ext cx="1600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88720"/>
            <a:ext cx="16002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389888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2704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9184" y="2286000"/>
            <a:ext cx="1453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" y="2743200"/>
            <a:ext cx="145389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SSR, ISR, App Router.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и SEO-ready.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29968" y="1188720"/>
            <a:ext cx="1600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29968" y="1188720"/>
            <a:ext cx="1600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41448" y="1389888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52704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03120" y="2286000"/>
            <a:ext cx="1453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103120" y="2743200"/>
            <a:ext cx="145389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из коробки.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803904" y="1188720"/>
            <a:ext cx="1600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03904" y="1188720"/>
            <a:ext cx="1600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15384" y="1389888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52704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77056" y="2286000"/>
            <a:ext cx="1453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877056" y="2743200"/>
            <a:ext cx="145389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WebSocket-уведомления.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синхронизация.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577840" y="1188720"/>
            <a:ext cx="1600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577840" y="1188720"/>
            <a:ext cx="1600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989320" y="1389888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27048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50992" y="2286000"/>
            <a:ext cx="1453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50992" y="2743200"/>
            <a:ext cx="145389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/ UZ / EN.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i18n-интернационализация.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351776" y="1188720"/>
            <a:ext cx="1600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351776" y="1188720"/>
            <a:ext cx="1600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763256" y="1389888"/>
            <a:ext cx="777240" cy="7772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1527048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24928" y="2286000"/>
            <a:ext cx="1453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Uptime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424928" y="2743200"/>
            <a:ext cx="145389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Load Recovery.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восстановление.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Люди за проектом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в продукте, технологиях и социальных инициативах.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260604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8428" y="1234440"/>
            <a:ext cx="1097280" cy="10972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8428" y="1234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" y="2468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[Имя Фамилия]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2880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3291840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429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0604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00500" y="1234440"/>
            <a:ext cx="1097280" cy="10972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0500" y="1234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37560" y="2468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[Имя Фамилия]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880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3291840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429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DevOps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08192" y="960120"/>
            <a:ext cx="260604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62572" y="1234440"/>
            <a:ext cx="1097280" cy="10972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2572" y="1234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9632" y="2468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[Имя Фамилия]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99632" y="2880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28232" y="3291840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3429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· Analytics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" y="4754880"/>
            <a:ext cx="8375904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754880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Advisors: [будут добавлены]   |   Открытые вакансии: Маркетинг · Продажи B2B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Путь к устойчивости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Консервативный прогноз. Break-even при 200+ Premium-подписчиках.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834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$X,XXX/мес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расходы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834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791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 месяцев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текущем финансировании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2834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30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Месяц 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Premium-подписчиков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46120" y="91440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0B981">
              <a:alpha val="11000"/>
            </a:srgbClr>
          </a:solidFill>
          <a:ln w="12700">
            <a:solidFill>
              <a:srgbClr val="10B981">
                <a:alpha val="11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9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Инвестиции для масштабирования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Инвестируйте не только в возврат — инвестируйте в наследие.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206240" cy="3657600"/>
          </a:xfrm>
          <a:prstGeom prst="rect">
            <a:avLst/>
          </a:prstGeom>
          <a:solidFill>
            <a:srgbClr val="0A2E2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$XXX,000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374904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оценка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$X,XXX,XXX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374904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раунда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X,000 пользователей за 12 мес.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74904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Инструмент: Pre-Seed  ·  SAFE / Equity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663440" y="1097280"/>
          <a:ext cx="4206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Куда мы идём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Поэтапная экспансия с фокусом на продукт и рост.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468880"/>
            <a:ext cx="8321040" cy="0"/>
          </a:xfrm>
          <a:prstGeom prst="line">
            <a:avLst/>
          </a:prstGeom>
          <a:noFill/>
          <a:ln w="38100">
            <a:solidFill>
              <a:srgbClr val="D1F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" y="2304288"/>
            <a:ext cx="329184" cy="32918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65960"/>
            <a:ext cx="0" cy="502920"/>
          </a:xfrm>
          <a:prstGeom prst="line">
            <a:avLst/>
          </a:prstGeom>
          <a:noFill/>
          <a:ln w="12700">
            <a:solidFill>
              <a:srgbClr val="D1FAE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64592" y="594360"/>
            <a:ext cx="1481328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594360"/>
            <a:ext cx="148132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6858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" y="94183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в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Ташкенте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" y="1380744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1,000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27148" y="2304288"/>
            <a:ext cx="329184" cy="32918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1740" y="2633472"/>
            <a:ext cx="0" cy="338328"/>
          </a:xfrm>
          <a:prstGeom prst="line">
            <a:avLst/>
          </a:prstGeom>
          <a:noFill/>
          <a:ln w="12700">
            <a:solidFill>
              <a:srgbClr val="D1FAE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751076" y="2971800"/>
            <a:ext cx="1481328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51076" y="2971800"/>
            <a:ext cx="148132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33372" y="306324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33372" y="331927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Корпоративное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волонтёрство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33372" y="3758184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B2B-пакет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компаний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07408" y="2304288"/>
            <a:ext cx="329184" cy="32918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965960"/>
            <a:ext cx="0" cy="502920"/>
          </a:xfrm>
          <a:prstGeom prst="line">
            <a:avLst/>
          </a:prstGeom>
          <a:noFill/>
          <a:ln w="12700">
            <a:solidFill>
              <a:srgbClr val="D1FAE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831336" y="594360"/>
            <a:ext cx="1481328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31336" y="594360"/>
            <a:ext cx="148132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6858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13632" y="94183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13632" y="1380744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87668" y="2304288"/>
            <a:ext cx="329184" cy="32918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52260" y="2633472"/>
            <a:ext cx="0" cy="338328"/>
          </a:xfrm>
          <a:prstGeom prst="line">
            <a:avLst/>
          </a:prstGeom>
          <a:noFill/>
          <a:ln w="12700">
            <a:solidFill>
              <a:srgbClr val="D1FAE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911596" y="2971800"/>
            <a:ext cx="1481328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11596" y="2971800"/>
            <a:ext cx="148132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93892" y="306324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93892" y="331927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Регионы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Узбекистана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93892" y="3758184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Самарканд,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Бухара, Фергана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67928" y="2304288"/>
            <a:ext cx="329184" cy="32918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2520" y="1965960"/>
            <a:ext cx="0" cy="502920"/>
          </a:xfrm>
          <a:prstGeom prst="line">
            <a:avLst/>
          </a:prstGeom>
          <a:noFill/>
          <a:ln w="12700">
            <a:solidFill>
              <a:srgbClr val="D1FAE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498080" y="594360"/>
            <a:ext cx="1481328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98080" y="594360"/>
            <a:ext cx="148132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0376" y="6858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0376" y="94183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Экспансия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СНГ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0376" y="1380744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Кыргызстан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474720"/>
            <a:ext cx="2743200" cy="27432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384048"/>
            <a:ext cx="1828800" cy="1828800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13232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Давайте менять мир вместе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299923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"Каждый хочет быть героем. Мы даём им эту возможность."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0624" y="3566160"/>
            <a:ext cx="1901952" cy="841248"/>
          </a:xfrm>
          <a:prstGeom prst="rect">
            <a:avLst/>
          </a:prstGeom>
          <a:solidFill>
            <a:srgbClr val="0A2E2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639312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Email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0352" y="391363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email@volohero.uz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05456" y="3566160"/>
            <a:ext cx="1901952" cy="841248"/>
          </a:xfrm>
          <a:prstGeom prst="rect">
            <a:avLst/>
          </a:prstGeom>
          <a:solidFill>
            <a:srgbClr val="0A2E2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15184" y="3639312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Сайт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15184" y="391363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volohero.uz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90288" y="3566160"/>
            <a:ext cx="1901952" cy="841248"/>
          </a:xfrm>
          <a:prstGeom prst="rect">
            <a:avLst/>
          </a:prstGeom>
          <a:solidFill>
            <a:srgbClr val="0A2E2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0016" y="3639312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Соцсети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00016" y="391363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@volohero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75120" y="3566160"/>
            <a:ext cx="1901952" cy="841248"/>
          </a:xfrm>
          <a:prstGeom prst="rect">
            <a:avLst/>
          </a:prstGeom>
          <a:solidFill>
            <a:srgbClr val="0A2E2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4848" y="3639312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Демо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784848" y="391363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demo.volohero.uz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VoloHero  ·  Первая специализированная платформа волонтёрства в Центральной Азии  ·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VoloHero — Investor Pitch Deck 2025</dc:title>
  <dc:subject>PptxGenJS Presentation</dc:subject>
  <dc:creator>VolunteerHub</dc:creator>
  <cp:lastModifiedBy>VolunteerHub</cp:lastModifiedBy>
  <cp:revision>1</cp:revision>
  <dcterms:created xsi:type="dcterms:W3CDTF">2026-06-03T05:41:33Z</dcterms:created>
  <dcterms:modified xsi:type="dcterms:W3CDTF">2026-06-03T05:41:33Z</dcterms:modified>
</cp:coreProperties>
</file>